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f98c2114764952" /><Relationship Type="http://schemas.openxmlformats.org/officeDocument/2006/relationships/extended-properties" Target="/docProps/app.xml" Id="Rd270929212944241" /><Relationship Type="http://schemas.openxmlformats.org/officeDocument/2006/relationships/officeDocument" Target="/ppt/presentation.xml" Id="Rfcbf9977288e40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ac98254d3b4e6a"/>
  </p:sldMasterIdLst>
  <p:notesMasterIdLst>
    <p:notesMasterId xmlns:r="http://schemas.openxmlformats.org/officeDocument/2006/relationships" r:id="Rcf46e2191c934d7f"/>
  </p:notesMasterIdLst>
  <p:sldIdLst>
    <p:sldId xmlns:r="http://schemas.openxmlformats.org/officeDocument/2006/relationships" id="256" r:id="R89975ed8a8944234"/>
    <p:sldId xmlns:r="http://schemas.openxmlformats.org/officeDocument/2006/relationships" id="257" r:id="Rd58e6fb98a4149eb"/>
    <p:sldId xmlns:r="http://schemas.openxmlformats.org/officeDocument/2006/relationships" id="258" r:id="R0e70b834be584800"/>
    <p:sldId xmlns:r="http://schemas.openxmlformats.org/officeDocument/2006/relationships" id="259" r:id="R733e185de36248a8"/>
    <p:sldId xmlns:r="http://schemas.openxmlformats.org/officeDocument/2006/relationships" id="260" r:id="R3e26e433587d43ca"/>
    <p:sldId xmlns:r="http://schemas.openxmlformats.org/officeDocument/2006/relationships" id="261" r:id="R99e3ff1d283b4b2d"/>
    <p:sldId xmlns:r="http://schemas.openxmlformats.org/officeDocument/2006/relationships" id="262" r:id="R18304fbbe2f744e8"/>
    <p:sldId xmlns:r="http://schemas.openxmlformats.org/officeDocument/2006/relationships" id="263" r:id="R8d707a9959624f5d"/>
    <p:sldId xmlns:r="http://schemas.openxmlformats.org/officeDocument/2006/relationships" id="264" r:id="R0440abb2b6f84a7e"/>
    <p:sldId xmlns:r="http://schemas.openxmlformats.org/officeDocument/2006/relationships" id="265" r:id="Rea1d9ac5b60b495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ac98254d3b4e6a" /><Relationship Type="http://schemas.openxmlformats.org/officeDocument/2006/relationships/theme" Target="/ppt/theme/theme1.xml" Id="R1cac88b0b87142fb" /><Relationship Type="http://schemas.openxmlformats.org/officeDocument/2006/relationships/notesMaster" Target="/ppt/notesMasters/notesMaster1.xml" Id="Rcf46e2191c934d7f" /><Relationship Type="http://schemas.openxmlformats.org/officeDocument/2006/relationships/presProps" Target="/ppt/presProps.xml" Id="R969886c0e7284cd0" /><Relationship Type="http://schemas.openxmlformats.org/officeDocument/2006/relationships/viewProps" Target="/ppt/viewProps.xml" Id="Rf4a5efeccad74c8e" /><Relationship Type="http://schemas.openxmlformats.org/officeDocument/2006/relationships/tableStyles" Target="/ppt/tableStyles.xml" Id="R278bb6dbfb1b4798" /><Relationship Type="http://schemas.openxmlformats.org/officeDocument/2006/relationships/slide" Target="/ppt/slides/slide1.xml" Id="R89975ed8a8944234" /><Relationship Type="http://schemas.openxmlformats.org/officeDocument/2006/relationships/slide" Target="/ppt/slides/slide2.xml" Id="Rd58e6fb98a4149eb" /><Relationship Type="http://schemas.openxmlformats.org/officeDocument/2006/relationships/slide" Target="/ppt/slides/slide3.xml" Id="R0e70b834be584800" /><Relationship Type="http://schemas.openxmlformats.org/officeDocument/2006/relationships/slide" Target="/ppt/slides/slide4.xml" Id="R733e185de36248a8" /><Relationship Type="http://schemas.openxmlformats.org/officeDocument/2006/relationships/slide" Target="/ppt/slides/slide5.xml" Id="R3e26e433587d43ca" /><Relationship Type="http://schemas.openxmlformats.org/officeDocument/2006/relationships/slide" Target="/ppt/slides/slide6.xml" Id="R99e3ff1d283b4b2d" /><Relationship Type="http://schemas.openxmlformats.org/officeDocument/2006/relationships/slide" Target="/ppt/slides/slide7.xml" Id="R18304fbbe2f744e8" /><Relationship Type="http://schemas.openxmlformats.org/officeDocument/2006/relationships/slide" Target="/ppt/slides/slide8.xml" Id="R8d707a9959624f5d" /><Relationship Type="http://schemas.openxmlformats.org/officeDocument/2006/relationships/slide" Target="/ppt/slides/slide9.xml" Id="R0440abb2b6f84a7e" /><Relationship Type="http://schemas.openxmlformats.org/officeDocument/2006/relationships/slide" Target="/ppt/slides/slide10.xml" Id="Rea1d9ac5b60b49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f283ef7b22b45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62497d450e4cda" /><Relationship Type="http://schemas.openxmlformats.org/officeDocument/2006/relationships/notesMaster" Target="/ppt/notesMasters/notesMaster1.xml" Id="R0033c37139194c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d087518982455c" /><Relationship Type="http://schemas.openxmlformats.org/officeDocument/2006/relationships/notesMaster" Target="/ppt/notesMasters/notesMaster1.xml" Id="R7cc8cc096e034f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7ea5c7cb5045c3" /><Relationship Type="http://schemas.openxmlformats.org/officeDocument/2006/relationships/notesMaster" Target="/ppt/notesMasters/notesMaster1.xml" Id="Rbca6ec00731849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fb4dcb2f774c4a" /><Relationship Type="http://schemas.openxmlformats.org/officeDocument/2006/relationships/notesMaster" Target="/ppt/notesMasters/notesMaster1.xml" Id="Rb5f1ce888e2041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474b5f1d4c4eeb" /><Relationship Type="http://schemas.openxmlformats.org/officeDocument/2006/relationships/notesMaster" Target="/ppt/notesMasters/notesMaster1.xml" Id="R04a6c3bafac149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ab26d5ed3f4f15" /><Relationship Type="http://schemas.openxmlformats.org/officeDocument/2006/relationships/notesMaster" Target="/ppt/notesMasters/notesMaster1.xml" Id="Rde2db017534b44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d968972088468b" /><Relationship Type="http://schemas.openxmlformats.org/officeDocument/2006/relationships/notesMaster" Target="/ppt/notesMasters/notesMaster1.xml" Id="Rad5c581bee2f40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a0abd5ac5048e7" /><Relationship Type="http://schemas.openxmlformats.org/officeDocument/2006/relationships/notesMaster" Target="/ppt/notesMasters/notesMaster1.xml" Id="R8347d667b49740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519f21538a4459" /><Relationship Type="http://schemas.openxmlformats.org/officeDocument/2006/relationships/notesMaster" Target="/ppt/notesMasters/notesMaster1.xml" Id="Rd1a8f0fc179440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efc0eea0964b4a" /><Relationship Type="http://schemas.openxmlformats.org/officeDocument/2006/relationships/notesMaster" Target="/ppt/notesMasters/notesMaster1.xml" Id="Rc5eafc10bf6b4b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8ef667eafb4cd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3a1da742ff8457b" /><Relationship Type="http://schemas.openxmlformats.org/officeDocument/2006/relationships/slideLayout" Target="/ppt/slideLayouts/slideLayout2.xml" Id="R4cdeb8c8a80f4a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deb8c8a80f4a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e4b95dc96d42be" /><Relationship Type="http://schemas.openxmlformats.org/officeDocument/2006/relationships/image" Target="/ppt/media/image.png" Id="R5be723627497474f" /><Relationship Type="http://schemas.openxmlformats.org/officeDocument/2006/relationships/image" Target="/ppt/media/image.jpeg" Id="Rcbe82e12d4ff4f33" /><Relationship Type="http://schemas.openxmlformats.org/officeDocument/2006/relationships/notesSlide" Target="/ppt/notesSlides/notesSlide1.xml" Id="R3a4e96e4d6ff4b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9eecdf19304c06" /><Relationship Type="http://schemas.openxmlformats.org/officeDocument/2006/relationships/notesSlide" Target="/ppt/notesSlides/notesSlide2.xml" Id="R609e6ecb98db44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c1b9d757714d79" /><Relationship Type="http://schemas.openxmlformats.org/officeDocument/2006/relationships/notesSlide" Target="/ppt/notesSlides/notesSlide3.xml" Id="R9dad0ff67e2f44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0dab4ffaf24242" /><Relationship Type="http://schemas.openxmlformats.org/officeDocument/2006/relationships/notesSlide" Target="/ppt/notesSlides/notesSlide4.xml" Id="Rdbfd628304294d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11a64ceeea4a09" /><Relationship Type="http://schemas.openxmlformats.org/officeDocument/2006/relationships/notesSlide" Target="/ppt/notesSlides/notesSlide5.xml" Id="R8959fbaebf6749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a37fab67844405" /><Relationship Type="http://schemas.openxmlformats.org/officeDocument/2006/relationships/notesSlide" Target="/ppt/notesSlides/notesSlide6.xml" Id="R77ae80a330b340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c9426778ea4315" /><Relationship Type="http://schemas.openxmlformats.org/officeDocument/2006/relationships/notesSlide" Target="/ppt/notesSlides/notesSlide7.xml" Id="Ra7b24c9e6f8946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75dc34e8e648f7" /><Relationship Type="http://schemas.openxmlformats.org/officeDocument/2006/relationships/notesSlide" Target="/ppt/notesSlides/notesSlide8.xml" Id="R7c445951d0c240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5bb28e3086425d" /><Relationship Type="http://schemas.openxmlformats.org/officeDocument/2006/relationships/notesSlide" Target="/ppt/notesSlides/notesSlide9.xml" Id="R00172752c9d840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f30eb1fa8b48be" /><Relationship Type="http://schemas.openxmlformats.org/officeDocument/2006/relationships/image" Target="/ppt/media/image2.png" Id="R81f993a4855741c3" /><Relationship Type="http://schemas.openxmlformats.org/officeDocument/2006/relationships/notesSlide" Target="/ppt/notesSlides/notesSlide10.xml" Id="Rec6209e9ca684c0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25C5D6-EF8D-45E2-900A-F9F1486B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2D"/>
          </a:solidFill>
          <a:ln xmlns:a="http://schemas.openxmlformats.org/drawingml/2006/main" w="0">
            <a:solidFill>
              <a:srgbClr val="0D242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23617-9B4C-4839-B876-91B2EA44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2D"/>
          </a:solidFill>
          <a:ln xmlns:a="http://schemas.openxmlformats.org/drawingml/2006/main" w="0">
            <a:solidFill>
              <a:srgbClr val="0D24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02FAB-64D3-4C58-B033-4C9183CA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13B"/>
          </a:solidFill>
          <a:ln xmlns:a="http://schemas.openxmlformats.org/drawingml/2006/main" w="0">
            <a:solidFill>
              <a:srgbClr val="10313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E6538-F13D-475C-A731-57EE11CB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e723627497474f"/>
          <a:stretch xmlns:a="http://schemas.openxmlformats.org/drawingml/2006/main"/>
        </p:blipFill>
        <p:spPr>
          <a:xfrm xmlns:a="http://schemas.openxmlformats.org/drawingml/2006/main">
            <a:off x="9806305" y="361950"/>
            <a:ext cx="1209040" cy="106680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e82e12d4ff4f33"/>
          <a:stretch xmlns:a="http://schemas.openxmlformats.org/drawingml/2006/main"/>
        </p:blipFill>
        <p:spPr>
          <a:xfrm xmlns:a="http://schemas.openxmlformats.org/drawingml/2006/main">
            <a:off x="10096500" y="5778954"/>
            <a:ext cx="857250" cy="19594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C256C-0280-4C6F-84D1-7C5FC801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DAD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DADC"/>
                </a:solidFill>
                <a:latin typeface="Aptos"/>
                <a:ea typeface="Aptos"/>
                <a:cs typeface="Aptos"/>
              </a:rPr>
              <a:t>AUTOMIND GROUP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222F4B-19E4-4B72-A808-2F461555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382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DE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DE3"/>
                </a:solidFill>
                <a:latin typeface="Aptos"/>
                <a:ea typeface="Aptos"/>
                <a:cs typeface="Aptos"/>
              </a:rPr>
              <a:t>Propuesta económica para OGEMI / Sistema de gestión de cartera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7B943-F549-4280-913F-BD517FB3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7429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Sistema financiero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para cartera, banco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y reportes gerenciales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BD74A-0E17-4CB2-9A97-8AD93189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581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DE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9DDE3"/>
                </a:solidFill>
                <a:latin typeface="Aptos"/>
                <a:ea typeface="Aptos"/>
                <a:cs typeface="Aptos"/>
              </a:rPr>
              <a:t>Alcance cerrado para una empresa, 5 usuarios, importación manual de Excel y cierre bancario mensual por comparación de saldos.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6DE4EC-BA26-4648-8685-0DDC1FD7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98ED4A-6B9B-4090-BFFA-55F0DE5A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CE07E6-83D0-45BA-B215-8E854D50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81600"/>
            <a:ext cx="2133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A999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8A999"/>
                </a:solidFill>
                <a:latin typeface="Aptos Display"/>
                <a:ea typeface="Aptos Display"/>
                <a:cs typeface="Aptos Display"/>
              </a:rPr>
              <a:t>2.000 EUR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4EC7B1-1B83-4665-B71E-B236E129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72125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Inversión de desarrollo cerrada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5F8C9-B759-4092-83F0-9695C451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00625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754681-CA38-4D00-AF05-6919572B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00625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E06B4A-07E9-4FB6-AAAB-7C3EC21D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181600"/>
            <a:ext cx="2133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902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D9902F"/>
                </a:solidFill>
                <a:latin typeface="Aptos Display"/>
                <a:ea typeface="Aptos Display"/>
                <a:cs typeface="Aptos Display"/>
              </a:rPr>
              <a:t>4 semanas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EC6EC7-128D-48C7-B728-4C56FE0C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72125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Cronograma de implementación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991E19-6022-47EB-BE7D-4467E04F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00625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F8B540-2E9C-46AD-AC00-7F51429A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00625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AE630A-5152-46A5-BBD4-F6207D59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81600"/>
            <a:ext cx="2133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E7490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E7490"/>
                </a:solidFill>
                <a:latin typeface="Aptos Display"/>
                <a:ea typeface="Aptos Display"/>
                <a:cs typeface="Aptos Display"/>
              </a:rPr>
              <a:t>0 EUR/mes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D22C5A-2CB9-440A-9689-E5E175B3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72125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Infraestructura base posible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E55A42-D86B-4283-9851-66BF1616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3627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A8DADC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A8DADC"/>
                </a:solidFill>
                <a:latin typeface="Aptos"/>
                <a:ea typeface="Aptos"/>
                <a:cs typeface="Aptos"/>
              </a:rPr>
              <a:t>Preparado por Automind Group</a:t>
            </a:r>
          </a:p>
        </p:txBody>
      </p:sp>
    </p:spTree>
    <p:extLst>
      <p:ext uri="{BB962C8B-B14F-4D97-AF65-F5344CB8AC3E}">
        <p14:creationId xmlns:p14="http://schemas.microsoft.com/office/powerpoint/2010/main" val="5086723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A1864E-E49D-49EC-AB38-EC545D08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F7FA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16024-8410-44B3-A26D-F928814F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7"/>
          </a:solidFill>
          <a:ln xmlns:a="http://schemas.openxmlformats.org/drawingml/2006/main" w="9525">
            <a:solidFill>
              <a:srgbClr val="0E749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01B5F-DB1F-4A2A-8417-EC794720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RESUMEN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0DF35-72C4-42FC-86DA-5086CB5C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42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222B"/>
                </a:solidFill>
                <a:latin typeface="Aptos Display"/>
                <a:ea typeface="Aptos Display"/>
                <a:cs typeface="Aptos Display"/>
              </a:rPr>
              <a:t>Automind propone llevar la base funcional a una versión operativa en 4 semanas.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55E45-42DD-40F4-8500-C4A2F57A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04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La revisión detectó una app avanzada en Next.js + Supabase. El proyecto propuesto se concentra en estabilizar, cerrar reglas operativas, desplegar y capacitar.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33ED4-6EBF-4BC6-A97B-79AB279D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6"/>
          </a:solidFill>
          <a:ln xmlns:a="http://schemas.openxmlformats.org/drawingml/2006/main" w="0">
            <a:solidFill>
              <a:srgbClr val="D7E2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27614-42D9-44EB-8C38-AC96FDEB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Automind Group / Propuesta económica para OGEMI - Impresos Comerciales SA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49140-B870-4B32-8C36-6669310D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49FC7-9CCD-41AB-9955-E20A5AA0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8DD0B-72F9-4799-ACEE-D8ED083E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2D1909-3904-4B3A-981F-4A8CA4FE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52725"/>
            <a:ext cx="2800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B8A5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B8A5A"/>
                </a:solidFill>
                <a:latin typeface="Aptos Display"/>
                <a:ea typeface="Aptos Display"/>
                <a:cs typeface="Aptos Display"/>
              </a:rPr>
              <a:t>Base existente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4E867-39B2-4C8B-BF28-822F9CC3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Dashboard, facturas, clientes, banco, compras, reportes y admin ya tienen estructura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7387D6-5DFA-48CE-AC2C-00907DC7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7175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ABB47-C69D-4540-B902-48DA1DF2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717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4B42CD-93DF-4810-9B04-A7C3F355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52725"/>
            <a:ext cx="2800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E7490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E7490"/>
                </a:solidFill>
                <a:latin typeface="Aptos Display"/>
                <a:ea typeface="Aptos Display"/>
                <a:cs typeface="Aptos Display"/>
              </a:rPr>
              <a:t>Alcance cerrado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E66AF0-7BBF-4CB5-85AB-834A53C2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4325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Importación manual, 5 usuarios, una empresa y cierre mensual simple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0EEAF8-84EA-4B72-A12E-FA724F85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DD58CB-ABC9-4311-9144-0A37840F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BF29C1-7176-4CBA-AAED-1AF0B3A4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52725"/>
            <a:ext cx="2800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902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D9902F"/>
                </a:solidFill>
                <a:latin typeface="Aptos Display"/>
                <a:ea typeface="Aptos Display"/>
                <a:cs typeface="Aptos Display"/>
              </a:rPr>
              <a:t>4 semanas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1DB7EB-C10E-432D-935C-63CE2218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Corrección técnica, QA, despliegue, documentación y capacitación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D8695A-C0E1-44D5-B60A-FC0754B0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85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1BA12A-6365-4643-A017-B1F98D9A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434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Decisión económica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CA4092-F41E-4D99-94DB-526E25D5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76750"/>
            <a:ext cx="766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No se cotiza como desarrollo desde cero. Automind cotiza una terminación controlada: reglas de negocio, seguridad, cierres, reportes, despliegue y pruebas para que el sistema pueda usarse de forma confiable.</a:t>
            </a:r>
          </a:p>
        </p:txBody>
      </p:sp>
    </p:spTree>
    <p:extLst>
      <p:ext uri="{BB962C8B-B14F-4D97-AF65-F5344CB8AC3E}">
        <p14:creationId xmlns:p14="http://schemas.microsoft.com/office/powerpoint/2010/main" val="6440589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CEC6BC-3451-4E4B-B691-15652882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F7FA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38E5D-E8A5-400F-A224-0CEA9659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7"/>
          </a:solidFill>
          <a:ln xmlns:a="http://schemas.openxmlformats.org/drawingml/2006/main" w="9525">
            <a:solidFill>
              <a:srgbClr val="0E749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09103-1BB3-4F05-A511-D41656B3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MAPA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D1B89-4722-4565-B04B-1BFEAD3F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42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222B"/>
                </a:solidFill>
                <a:latin typeface="Aptos Display"/>
                <a:ea typeface="Aptos Display"/>
                <a:cs typeface="Aptos Display"/>
              </a:rPr>
              <a:t>Mapa general de módulos incluidos en el sistema.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6BB92-D179-4DCF-BB9A-86887C25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04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Cada módulo responde a un flujo financiero concreto: importar, cobrar, pagar, conciliar y reportar.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DCB49-175D-480E-9542-C403C2DF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6"/>
          </a:solidFill>
          <a:ln xmlns:a="http://schemas.openxmlformats.org/drawingml/2006/main" w="0">
            <a:solidFill>
              <a:srgbClr val="D7E2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DF9E3-C2E2-4F4E-B869-1703D67E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Automind Group / Propuesta económica para OGEMI - Impresos Comerciales SA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61EAB-CAF4-4FBA-88F5-A820C611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9EA97-3D35-4475-9C73-060B3FAB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B9EC9-1E85-4A51-BAAA-23A5BD75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DCB2F2-768F-409F-91E1-C654065F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Importar Excel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2AC075-4310-4E84-98F3-C6211189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Carga manual del libro de ventas, vista previa, clientes automáticos y control de duplicados.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D93B81-89A8-441C-A9B8-2AEA614A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003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0C4777-0670-4362-93AC-DEF64794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003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23DE5E-24E5-4727-B7A0-ECC5B07D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527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Clientes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0F0BAD-335B-413C-B67A-E4E75A90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1940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Días de crédito, estado activo y saldos por cliente.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2C3EA2-F510-4632-B86C-A45ADEDE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03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7C9B0D-565D-4F94-8CBE-874FBADE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03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F22E79-C12C-44F1-B03E-4FFD6EC3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527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Facturas / CxC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A48C0B-244B-4217-8A95-52669219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1940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Fecha de pago, estado pendiente/pagada, pagos parciales y saldo pendiente.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D8959F-F734-449A-8528-D7673BFF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003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AE2998-8CF6-4388-9238-1DA4F4AF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003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646025-476E-4D35-8CAE-0E288DA6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527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Anticipos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0960B5-653A-40C6-9EE8-D2F5EB52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1940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Depósitos anticipados, estado, cuenta bancaria y recibo imprimible.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72362E-CC97-416A-84E4-426BBE62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C2B2AC-6696-4944-9766-7F3664A5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4B"/>
          </a:solidFill>
          <a:ln xmlns:a="http://schemas.openxmlformats.org/drawingml/2006/main" w="0">
            <a:solidFill>
              <a:srgbClr val="173B4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7E2D10-F66F-4867-AEAC-8833DABC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Banco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B6A8DC-F60A-4A66-BB78-E6D1F67D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Cuentas, ingresos, egresos, movimientos automáticos y cierre mensual.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E39C1A-251D-4F04-A652-5E2E4181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290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4C3368-FAC2-4A89-9FA0-13D1A5A1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290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949"/>
          </a:solidFill>
          <a:ln xmlns:a="http://schemas.openxmlformats.org/drawingml/2006/main" w="0">
            <a:solidFill>
              <a:srgbClr val="C4494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CD7167-5535-4A1F-9ED9-841628D0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814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Compras / CxP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86AC38-D48E-47DB-BB3F-164B33DC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4815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Proveedores, vencimientos, pagos y egresos bancarios.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87D59F-BEBC-439A-8836-25AD0574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290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3ABCB2-48D1-4888-B264-E3D8011E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290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7E1B8F-A2E2-4A00-AB2D-3164FC2A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814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Reportes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B7D56D-8366-4690-B4DD-10455E11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4815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Cartera, CxP, libros, flujo de caja, CSV y pivots por antigüedad.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67ADA0-00A5-470C-B31C-E0E423D8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290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D2BB4A-67B3-4ED9-90EA-947F4CAB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290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38FF6B-3615-40DE-863D-FA47FEDF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814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Administración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72021A-BFC1-4CA3-91A9-BFFAF4B6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4815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Usuarios, roles, permisos de ver/editar/borrar y seguridad Supabase.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F6F78A-CA18-4E3F-90C4-00B03394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81625"/>
            <a:ext cx="800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7"/>
          </a:solidFill>
          <a:ln xmlns:a="http://schemas.openxmlformats.org/drawingml/2006/main" w="9525">
            <a:solidFill>
              <a:srgbClr val="18A999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EEAB3C-474D-4CD5-98F4-C89D2CF3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864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Flujo operativo: Excel -&gt; facturas/clientes -&gt; cobros/pagos -&gt; banco -&gt; cierre mensual -&gt; reportes</a:t>
            </a:r>
          </a:p>
        </p:txBody>
      </p:sp>
    </p:spTree>
    <p:extLst>
      <p:ext uri="{BB962C8B-B14F-4D97-AF65-F5344CB8AC3E}">
        <p14:creationId xmlns:p14="http://schemas.microsoft.com/office/powerpoint/2010/main" val="115863935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E8356F-0237-474A-A0E6-52B7A5FD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F7FA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A27BD-0B3E-4BDA-A020-F4534EC4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7"/>
          </a:solidFill>
          <a:ln xmlns:a="http://schemas.openxmlformats.org/drawingml/2006/main" w="9525">
            <a:solidFill>
              <a:srgbClr val="0E749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5F3D6-A534-4A46-84EB-675E5507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FLUJO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326C4-9BD7-447D-8F35-C67A9528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42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222B"/>
                </a:solidFill>
                <a:latin typeface="Aptos Display"/>
                <a:ea typeface="Aptos Display"/>
                <a:cs typeface="Aptos Display"/>
              </a:rPr>
              <a:t>El proceso mensual queda controlado de punta a punta.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5CCAD-15FD-4CC8-9FC7-69FBC10B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04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La operación se organiza alrededor del libro de ventas, la gestión de cobros, el banco y los reportes de cierre.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1FBBE-2FE2-428E-AB1D-C2F651B1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6"/>
          </a:solidFill>
          <a:ln xmlns:a="http://schemas.openxmlformats.org/drawingml/2006/main" w="0">
            <a:solidFill>
              <a:srgbClr val="D7E2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82D6F-0DC4-4E26-AB02-D794939A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Automind Group / Propuesta económica para OGEMI - Impresos Comerciales SA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11400-02E5-4162-8680-3D3B3920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9CD7F-0DCE-4203-B4C1-E54C2862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162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BE87D-FB6C-49B4-B0B1-9B2CC1D3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3241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3AA0B-848A-4FE9-A4D6-19C0D275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193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41FB19-EC48-42CC-9F7D-994403D2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Importar libro de ventas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E8370-2134-4894-904B-8C5193FA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00425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Carga manual del Excel y validación previa.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ACEBA3-C8E6-4862-AE7F-1B046B12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2766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9CF"/>
          </a:solidFill>
          <a:ln xmlns:a="http://schemas.openxmlformats.org/drawingml/2006/main" w="0">
            <a:solidFill>
              <a:srgbClr val="B8C9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E1CAA8-CDF9-45AA-9903-72334506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14625"/>
            <a:ext cx="1162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4B34AA-FEE1-4901-968F-DC7D3E1B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241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811E28-8443-4685-81EC-F45AECB8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193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2F274A-824A-4C6B-9DF9-E10A1DB6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908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Crear clientes y facturas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0C54A6-42A6-4EE1-8F16-5A8E92D2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400425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Clientes nuevos se crean con 30 días de crédito.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89FF01-5EBA-45AA-89E6-22C8D7F2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766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9CF"/>
          </a:solidFill>
          <a:ln xmlns:a="http://schemas.openxmlformats.org/drawingml/2006/main" w="0">
            <a:solidFill>
              <a:srgbClr val="B8C9C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B2679F-D708-43CA-8C58-F91F22E5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14625"/>
            <a:ext cx="1162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546A15-6139-4131-BFDF-6A45E6DC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241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DC8396-C646-4B27-8E63-A8CCE290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193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DB40E9-2416-4971-BB37-C6E9981E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908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Registrar pagos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8502AE-642F-4495-BAE9-1E6CBECA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00425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Pagos parciales o completos contra facturas.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AF3BD1-040F-43C6-BF71-C829577A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766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9CF"/>
          </a:solidFill>
          <a:ln xmlns:a="http://schemas.openxmlformats.org/drawingml/2006/main" w="0">
            <a:solidFill>
              <a:srgbClr val="B8C9C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99BD59-9C6D-4FCD-A13B-90440BB2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14625"/>
            <a:ext cx="1162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691684-3B4F-49DA-A586-1F383A75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3241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4B"/>
          </a:solidFill>
          <a:ln xmlns:a="http://schemas.openxmlformats.org/drawingml/2006/main" w="0">
            <a:solidFill>
              <a:srgbClr val="173B4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A07630-03FA-477B-B520-305B7475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193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0D2BFF-D02A-44C4-AEFE-EB0A004D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908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Mover a banco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A58E5A-F887-4F28-92F5-DB968C9A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400425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Cobros y pagos generan movimientos bancarios.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299627-206C-48CC-9241-B53261E1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766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9CF"/>
          </a:solidFill>
          <a:ln xmlns:a="http://schemas.openxmlformats.org/drawingml/2006/main" w="0">
            <a:solidFill>
              <a:srgbClr val="B8C9C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1766C9-645E-4CC4-878F-F4BDB746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14625"/>
            <a:ext cx="1162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2DE09E-E4CB-4D62-BF69-94D92E2F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241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18F2F3-1192-4030-AC90-744EA8C3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193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145EF0-5E3B-4DF9-9AE8-BDB743C9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908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Cerrar el mes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AB4992-3C84-4583-9E50-33D2C75E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400425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Comparación entre saldo sistema y saldo banco.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07CE77-2308-4E09-BA51-9793FC9F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9CF"/>
          </a:solidFill>
          <a:ln xmlns:a="http://schemas.openxmlformats.org/drawingml/2006/main" w="0">
            <a:solidFill>
              <a:srgbClr val="B8C9C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9DA1A1-C7D0-42A1-82CA-84FFC1E5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14625"/>
            <a:ext cx="1162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72164A-5B5E-4204-99C4-9C0A09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3241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949"/>
          </a:solidFill>
          <a:ln xmlns:a="http://schemas.openxmlformats.org/drawingml/2006/main" w="0">
            <a:solidFill>
              <a:srgbClr val="C44949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76AAFA-E59F-4FBF-AC41-D2CE6520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193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F3B76A-E140-48C6-A59A-6BB9FD80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908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Reportar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5B7F43-CE7C-4657-A6CC-5AC8CFB2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400425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Cartera por cliente, antigüedad, CxP y libros.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C44D4E-67F4-498F-89E5-FF30482F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Resultado: saldos confiables, trazabilidad de pagos y reportes exportables para la gestión mensual.</a:t>
            </a:r>
          </a:p>
        </p:txBody>
      </p:sp>
    </p:spTree>
    <p:extLst>
      <p:ext uri="{BB962C8B-B14F-4D97-AF65-F5344CB8AC3E}">
        <p14:creationId xmlns:p14="http://schemas.microsoft.com/office/powerpoint/2010/main" val="19510177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4316B4-4EAD-4469-9994-7C7E4EB4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F7FA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7799B-DE64-495F-AD0E-59938FAA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7"/>
          </a:solidFill>
          <a:ln xmlns:a="http://schemas.openxmlformats.org/drawingml/2006/main" w="9525">
            <a:solidFill>
              <a:srgbClr val="0E749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7C8A9-04CD-4836-854D-5780280A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ALCANCE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A166E-7684-4FF5-97A5-D63A5163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42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222B"/>
                </a:solidFill>
                <a:latin typeface="Aptos Display"/>
                <a:ea typeface="Aptos Display"/>
                <a:cs typeface="Aptos Display"/>
              </a:rPr>
              <a:t>Alcance funcional confirmado.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094EB-8D1B-4FF8-9270-1B26E47F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04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Con las respuestas recibidas, el alcance queda cerrado y reduce incertidumbre en tiempo y costo.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98879-4F68-494C-A2E4-11880BEF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6"/>
          </a:solidFill>
          <a:ln xmlns:a="http://schemas.openxmlformats.org/drawingml/2006/main" w="0">
            <a:solidFill>
              <a:srgbClr val="D7E2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1E73C-2C11-465B-8D83-CF6F2479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Automind Group / Propuesta económica para OGEMI - Impresos Comerciales SA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F4ECF-0A56-4DB1-AF7F-56800789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91CA4-292A-42F3-81F1-C4767C4F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11087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2D"/>
          </a:solidFill>
          <a:ln xmlns:a="http://schemas.openxmlformats.org/drawingml/2006/main" w="0">
            <a:solidFill>
              <a:srgbClr val="0D242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AB53E-5461-4267-84A2-1AED3839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630AFC-1500-4F87-A967-30AB991D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47925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Confirmado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2A75F4-BBD4-4346-A869-8B85E065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479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Implicación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E91A34-22FC-4776-8F81-4455EE2F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4792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Impacto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7229E-72C3-4B77-8689-112DCE3E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B"/>
          </a:solidFill>
          <a:ln xmlns:a="http://schemas.openxmlformats.org/drawingml/2006/main" w="0">
            <a:solidFill>
              <a:srgbClr val="DCE7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06823-59FF-46FF-9050-96E04926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Importación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8B2FBC-F75C-4D7F-AB53-65EBB5B4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4800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Manual desde Excel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B21171-A1AC-4327-8DCC-8EDEA6EC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No requiere automatización con Drive, correo o SFTP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E18906-41F6-4BC0-91E3-C0767FEC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480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Menor costo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D8F1E1-E778-49F3-9351-CD94F34B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B"/>
          </a:solidFill>
          <a:ln xmlns:a="http://schemas.openxmlformats.org/drawingml/2006/main" w="0">
            <a:solidFill>
              <a:srgbClr val="DCE7E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DD4E2F-C76B-415C-B2EE-A0C49119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Usuarios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E52E2C-E052-4DEE-9EE3-5EF59226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4330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5 usuarios iniciales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48DE7C-B396-4CFD-961C-B40D53BE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433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Permisos por rol y operación controlada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EE7863-2572-4FED-AE4F-093FE068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433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Suficiente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665B66-D148-44D1-BBC4-8A941C72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B"/>
          </a:solidFill>
          <a:ln xmlns:a="http://schemas.openxmlformats.org/drawingml/2006/main" w="0">
            <a:solidFill>
              <a:srgbClr val="DCE7E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C2DF1A-49AA-401E-B6B1-CA1A6702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Cierre banco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F51B3D-326C-4E95-94E3-A9661CDC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3860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Comparación mensual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F7A8F7-F9D7-452C-989D-8745A4E2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No incluye conciliación movimiento por movimiento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3C0F67-3CE2-4B4B-BC1E-6B8A34F2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386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Simple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5C62F5-136B-45CB-8E7A-E293F1FE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624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B"/>
          </a:solidFill>
          <a:ln xmlns:a="http://schemas.openxmlformats.org/drawingml/2006/main" w="0">
            <a:solidFill>
              <a:srgbClr val="DCE7E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D0B19B-F120-47B0-BDB6-AD86BBB8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Documentos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A9C32D-4FE6-4160-80CF-26CA2DBA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3390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Recibo de anticipo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70A239-E3E2-481C-A5B9-94930D2B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No incluye factura PDF ni facturación electrónica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2D0D2B-2AAE-403B-80FB-A1A4F971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339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Acotado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443703-2E53-42C8-8A7D-1F0AB918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B"/>
          </a:solidFill>
          <a:ln xmlns:a="http://schemas.openxmlformats.org/drawingml/2006/main" w="0">
            <a:solidFill>
              <a:srgbClr val="DCE7EB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CAD7CC-2E3B-40AA-9721-30368CF4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Empresa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3383C6-4D45-4A94-B9B2-5C8778E1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2920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Una sola empresa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01E72B-2B83-4B22-BFD8-B08CC89B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292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No se requiere multiempresa ni sucursales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1932AE-2663-49E9-8155-9DE5BFAB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292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Directo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E7D0CC-0405-432E-939D-6B43F102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981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Fuera de alcance inicial: conciliación bancaria detallada, multiempresa, facturación fiscal/PDF, importaciones automáticas y workflows de aprobación.</a:t>
            </a:r>
          </a:p>
        </p:txBody>
      </p:sp>
    </p:spTree>
    <p:extLst>
      <p:ext uri="{BB962C8B-B14F-4D97-AF65-F5344CB8AC3E}">
        <p14:creationId xmlns:p14="http://schemas.microsoft.com/office/powerpoint/2010/main" val="3191268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58649B-7D95-4685-B79D-62FCEF23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F7FA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67D82-EE4D-42EB-A762-0DEC6F64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7"/>
          </a:solidFill>
          <a:ln xmlns:a="http://schemas.openxmlformats.org/drawingml/2006/main" w="9525">
            <a:solidFill>
              <a:srgbClr val="0E749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600F6-C7F9-49EA-B9DC-C2857F3E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INVERSIÓN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0107F9-67BF-4C52-9D5D-E4BB185E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42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222B"/>
                </a:solidFill>
                <a:latin typeface="Aptos Display"/>
                <a:ea typeface="Aptos Display"/>
                <a:cs typeface="Aptos Display"/>
              </a:rPr>
              <a:t>Inversión de desarrollo: 2.000 EUR.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E8101-B9E7-4B1C-BF23-BAC61C13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04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El desglose refleja estabilización técnica, cierre de reglas de negocio, reportes, QA, despliegue y capacitación.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74E3D-1FF7-418A-837D-E6CD3370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6"/>
          </a:solidFill>
          <a:ln xmlns:a="http://schemas.openxmlformats.org/drawingml/2006/main" w="0">
            <a:solidFill>
              <a:srgbClr val="D7E2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5552B-6C83-4261-AF3A-0CF5D041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Automind Group / Propuesta económica para OGEMI - Impresos Comerciales SA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914BB-36FB-42E9-9984-C754792C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CA6C9-2E42-4453-8E98-9D8E47CB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Estabilización, build y despliegue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CF7DC2-E36C-4F41-9872-56688979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95525"/>
            <a:ext cx="4524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ED"/>
          </a:solidFill>
          <a:ln xmlns:a="http://schemas.openxmlformats.org/drawingml/2006/main" w="0">
            <a:solidFill>
              <a:srgbClr val="DFE9E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CCE156-7B60-48F7-A88B-3B45385C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95525"/>
            <a:ext cx="377031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5F934-F215-4054-A093-3240EAA8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4790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250 EUR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59C1C7-CDCE-444B-A5C3-F9E3BD85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Supabase, migraciones, seguridad y usuarios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8A8F5-41FE-44FC-9FAE-60112C58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57475"/>
            <a:ext cx="4524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ED"/>
          </a:solidFill>
          <a:ln xmlns:a="http://schemas.openxmlformats.org/drawingml/2006/main" w="0">
            <a:solidFill>
              <a:srgbClr val="DFE9E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803575-3015-403D-98E6-765EBA0C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57475"/>
            <a:ext cx="377031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6564AA-747D-4625-9A57-242A8DAA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098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250 EUR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BFC14C-3153-4E86-A23D-3412D09D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Importación manual Excel y validaciones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529083-68EB-4999-8A77-0C670ECE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19425"/>
            <a:ext cx="4524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ED"/>
          </a:solidFill>
          <a:ln xmlns:a="http://schemas.openxmlformats.org/drawingml/2006/main" w="0">
            <a:solidFill>
              <a:srgbClr val="DFE9E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7EEC72-BA74-4B02-AF1E-B4FE5B27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19425"/>
            <a:ext cx="3016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6C7623-EE53-4B8E-8248-50D79D9C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7180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200 EUR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DA1A00-540E-4978-B22B-20F0EA56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Clientes, facturas, pagos y cartera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27B04D-C34D-41E2-A33A-664C3ED0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81375"/>
            <a:ext cx="4524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ED"/>
          </a:solidFill>
          <a:ln xmlns:a="http://schemas.openxmlformats.org/drawingml/2006/main" w="0">
            <a:solidFill>
              <a:srgbClr val="DFE9E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5134FC-56ED-4BD9-ADA7-8DD0D7C6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81375"/>
            <a:ext cx="4524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6AEB53-85AD-4F7A-8763-180DAEF4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337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300 EUR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12A2C0-9509-43E9-AAC3-4A15BECF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Anticipos con recibo imprimible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455AD0-498D-4A2B-B6CA-E48FE964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43325"/>
            <a:ext cx="4524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ED"/>
          </a:solidFill>
          <a:ln xmlns:a="http://schemas.openxmlformats.org/drawingml/2006/main" w="0">
            <a:solidFill>
              <a:srgbClr val="DFE9E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31573D-1167-46DD-98D2-DB88B40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43325"/>
            <a:ext cx="226218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BCDA3F-2C42-4281-A80C-A2975FA5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9570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150 EUR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1639E4-C45F-442B-80EF-240F426B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Banco, movimientos y cierre mensual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066B28-3813-4B6A-9F97-5B8217B0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05275"/>
            <a:ext cx="4524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ED"/>
          </a:solidFill>
          <a:ln xmlns:a="http://schemas.openxmlformats.org/drawingml/2006/main" w="0">
            <a:solidFill>
              <a:srgbClr val="DFE9E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B02908-2D5C-4BDA-B6A7-FB6C58FE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05275"/>
            <a:ext cx="377031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4B"/>
          </a:solidFill>
          <a:ln xmlns:a="http://schemas.openxmlformats.org/drawingml/2006/main" w="0">
            <a:solidFill>
              <a:srgbClr val="173B4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53E452-CE14-4264-A890-A91D1A0F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576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250 EUR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CD8BC7-9FF5-4C43-A8A6-F525F0B0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Compras, proveedores y CxP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91223A-C3D8-453E-B5F3-39E3B9D4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67225"/>
            <a:ext cx="4524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ED"/>
          </a:solidFill>
          <a:ln xmlns:a="http://schemas.openxmlformats.org/drawingml/2006/main" w="0">
            <a:solidFill>
              <a:srgbClr val="DFE9ED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93F15D-A71B-4830-A843-AA097BE9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67225"/>
            <a:ext cx="3016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949"/>
          </a:solidFill>
          <a:ln xmlns:a="http://schemas.openxmlformats.org/drawingml/2006/main" w="0">
            <a:solidFill>
              <a:srgbClr val="C44949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C25130-FE1A-4735-BCCB-5115BBB3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1960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200 EUR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29A87D-4929-43A6-80AE-DB818FB5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Reportes, exportaciones y dashboard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B86FA7-037E-4C41-8C6E-75ED144C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29175"/>
            <a:ext cx="4524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ED"/>
          </a:solidFill>
          <a:ln xmlns:a="http://schemas.openxmlformats.org/drawingml/2006/main" w="0">
            <a:solidFill>
              <a:srgbClr val="DFE9ED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767103-478C-49E8-8037-1283D67A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29175"/>
            <a:ext cx="377031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6795DB-D7C1-4484-9FEF-B5145697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7815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250 EUR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6AD01C-4150-4463-A23D-2E4A5651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QA, documentación y capacitación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EEBBE6-527C-4AC7-8586-618C9E98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91125"/>
            <a:ext cx="4524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ED"/>
          </a:solidFill>
          <a:ln xmlns:a="http://schemas.openxmlformats.org/drawingml/2006/main" w="0">
            <a:solidFill>
              <a:srgbClr val="DFE9ED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FD946F-F872-4CD8-AA58-6FDA98C1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91125"/>
            <a:ext cx="226218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DD8AB9-4143-4D99-B822-E97AC0E3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14350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150 EUR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09C90A-BABF-4CDB-BB52-A4BAA1CA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22860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2D"/>
          </a:solidFill>
          <a:ln xmlns:a="http://schemas.openxmlformats.org/drawingml/2006/main" w="0">
            <a:solidFill>
              <a:srgbClr val="0D242D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728495-D27B-4302-914A-A04869CF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38450"/>
            <a:ext cx="1943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2.000 EUR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894648-5538-4874-8C23-989F1304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48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A8DAD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DADC"/>
                </a:solidFill>
                <a:latin typeface="Aptos"/>
                <a:ea typeface="Aptos"/>
                <a:cs typeface="Aptos"/>
              </a:rPr>
              <a:t>TOTAL DESARROLLO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040C832-ECBC-4AEC-900D-5885516F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29050"/>
            <a:ext cx="1752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D8E7E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8E7EB"/>
                </a:solidFill>
                <a:latin typeface="Aptos"/>
                <a:ea typeface="Aptos"/>
                <a:cs typeface="Aptos"/>
              </a:rPr>
              <a:t>Propuesta cerrada para el alcance confirmado. Cambios como multiempresa, conciliación detallada o importación automática se cotizan aparte.</a:t>
            </a:r>
          </a:p>
        </p:txBody>
      </p:sp>
    </p:spTree>
    <p:extLst>
      <p:ext uri="{BB962C8B-B14F-4D97-AF65-F5344CB8AC3E}">
        <p14:creationId xmlns:p14="http://schemas.microsoft.com/office/powerpoint/2010/main" val="19877322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22D281-ACC9-491F-BBFC-5326C4AA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F7FA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1B0FC-9943-4593-96BA-49D67580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7"/>
          </a:solidFill>
          <a:ln xmlns:a="http://schemas.openxmlformats.org/drawingml/2006/main" w="9525">
            <a:solidFill>
              <a:srgbClr val="0E749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4BF92-4497-40E6-9F1A-5F751115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INFRAESTRUCTURA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C7982-7BD1-494D-A717-CAFBAD50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42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222B"/>
                </a:solidFill>
                <a:latin typeface="Aptos Display"/>
                <a:ea typeface="Aptos Display"/>
                <a:cs typeface="Aptos Display"/>
              </a:rPr>
              <a:t>Infraestructura inicial sin costo mensual obligatorio.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2146F-8424-4011-9847-4DEBBA72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04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Para el alcance confirmado, la aplicación puede iniciar en las versiones gratis de Vercel y Supabase, sin dominio propio.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6CD4D-FBC1-4DBF-8F7F-557E4379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6"/>
          </a:solidFill>
          <a:ln xmlns:a="http://schemas.openxmlformats.org/drawingml/2006/main" w="0">
            <a:solidFill>
              <a:srgbClr val="D7E2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5B43D-E625-49F1-8E4A-45CA7F87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Automind Group / Propuesta económica para OGEMI - Impresos Comerciales SA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584F7-6D89-4A63-A59F-97962B57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C0D10D-DE0E-4065-9CD5-4BF3616F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EBC97C-732E-41DB-800D-131EC416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2D"/>
          </a:solidFill>
          <a:ln xmlns:a="http://schemas.openxmlformats.org/drawingml/2006/main" w="0">
            <a:solidFill>
              <a:srgbClr val="0D242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19D722-38CF-4812-9463-608387F3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33675"/>
            <a:ext cx="2609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D242D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D242D"/>
                </a:solidFill>
                <a:latin typeface="Aptos Display"/>
                <a:ea typeface="Aptos Display"/>
                <a:cs typeface="Aptos Display"/>
              </a:rPr>
              <a:t>0 EUR/mes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81B793-3607-4119-A7F5-F116D9FC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Vercel Free: hosting, HTTPS y despliegue web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7C2D8-6014-4F0B-8EE0-7320832B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64D02E-1572-4C81-AA1B-D8B5E1EC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3A4492-5BAF-4A7B-A00E-B9763505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33675"/>
            <a:ext cx="2609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E7490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E7490"/>
                </a:solidFill>
                <a:latin typeface="Aptos Display"/>
                <a:ea typeface="Aptos Display"/>
                <a:cs typeface="Aptos Display"/>
              </a:rPr>
              <a:t>0 EUR/mes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01E178-E57F-4E52-AD4E-F6B598BD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24200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Supabase Free: base de datos, Auth y API para arranque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917FB9-1D45-4586-BC93-AE9998E8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5270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32218E-CE03-4F47-B1BE-DA9DA0D2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527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4BE4CF-85E2-45D4-A819-BFF748D0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33675"/>
            <a:ext cx="2609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902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D9902F"/>
                </a:solidFill>
                <a:latin typeface="Aptos Display"/>
                <a:ea typeface="Aptos Display"/>
                <a:cs typeface="Aptos Display"/>
              </a:rPr>
              <a:t>Sin dominio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A218E0-F0E4-4AE8-8B69-07AC99E7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24200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Uso de URL temporal y correo de OGEMI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DE0375-315B-47F8-941B-8F8ACE60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24375"/>
            <a:ext cx="914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51D801-1001-4B7E-BD50-50CFC810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7053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Nota de infraestructura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D4ED95-307D-4219-B539-0CA970BB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962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B8A5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B8A5A"/>
                </a:solidFill>
                <a:latin typeface="Aptos Display"/>
                <a:ea typeface="Aptos Display"/>
                <a:cs typeface="Aptos Display"/>
              </a:rPr>
              <a:t>0 EUR / mes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71B9DE-D068-4403-B4D6-570F1254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81575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Se puede operar inicialmente con Vercel Free y Supabase Free, sin dominio propio, usando una URL de Vercel y un correo de OGEMI para la cuenta/administración.</a:t>
            </a:r>
          </a:p>
        </p:txBody>
      </p:sp>
    </p:spTree>
    <p:extLst>
      <p:ext uri="{BB962C8B-B14F-4D97-AF65-F5344CB8AC3E}">
        <p14:creationId xmlns:p14="http://schemas.microsoft.com/office/powerpoint/2010/main" val="125945225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9BDFBD-1A64-4EA2-BB19-7F14004C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F7FA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8FDE3-C66A-412A-B39C-74B81F34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7"/>
          </a:solidFill>
          <a:ln xmlns:a="http://schemas.openxmlformats.org/drawingml/2006/main" w="9525">
            <a:solidFill>
              <a:srgbClr val="0E749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0AE25-6F33-4136-B536-A0E1C4EF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CRONOGRAMA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CF697-10BF-4B16-832D-7795246A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42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222B"/>
                </a:solidFill>
                <a:latin typeface="Aptos Display"/>
                <a:ea typeface="Aptos Display"/>
                <a:cs typeface="Aptos Display"/>
              </a:rPr>
              <a:t>Cronograma de trabajo: 4 semanas.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C155C-ED95-45C1-83C7-C3C0FBB1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04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La secuencia prioriza primero estabilidad y datos, luego operación financiera, reportes y entrega.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9FD8C-8813-42E4-AA1D-914D6C89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6"/>
          </a:solidFill>
          <a:ln xmlns:a="http://schemas.openxmlformats.org/drawingml/2006/main" w="0">
            <a:solidFill>
              <a:srgbClr val="D7E2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6765E0-4661-42A8-8160-5F18C2CB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Automind Group / Propuesta económica para OGEMI - Impresos Comerciales SA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93BDA-9F4E-431C-B618-FCC8CECC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D49F78-CEBF-4785-95B5-1E95DEE3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43200"/>
            <a:ext cx="1619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CECD3-B0FC-4098-A590-A85A6387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432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B5F45-0EC8-4906-9B03-A505395E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86702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SEMANA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EF7560-256A-46E5-A872-3E69FB86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0995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Base y datos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13CE04-1D10-413E-A9ED-865C81A7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8862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Corrección de build, Supabase, seguridad e importación Excel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A5E7F-E3BF-4D59-BA0B-7C9A5BD9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43200"/>
            <a:ext cx="1619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114AE-4513-4F83-A500-820D774A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432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06707A-3206-4F0C-96BB-3FEDAE70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86702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SEMANA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FDB0DF-F31D-4660-B4B5-23B3F717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40995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Operación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5476A3-5F10-40EF-A454-6E1B7E16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8862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Clientes, facturas, pagos, anticipos y banco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96F80F-D0E2-4DB7-AF29-1BB01B47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43200"/>
            <a:ext cx="1619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F09CFB-BBCF-4DE9-A28E-D74E4BA3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432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13D77F-30B4-4024-93A9-D86CD72B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6702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SEMANA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B87DEF-F2A4-46FD-BD4F-68335BA9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0995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Compras y reportes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1B2087-A023-4094-93AF-A3DE13DC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862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Proveedores, CxP, dashboard, cartera, libros y cierre mensual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73E4BB-3544-4E17-A8EB-A4F2D50B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743200"/>
            <a:ext cx="1619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1C2686-065B-4885-BAA5-DF432623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7432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3BBAFE-305C-48C2-8A38-3C596493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86702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SEMANA 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92C7EF-5E9D-4EAB-8C99-66B002AD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40995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Entrega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2EE12E-015A-490C-9E81-D10BFFCC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8862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QA, ajustes, despliegue, documentación y capacitación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1A5B0C-27BD-4E30-8E08-AEC30BC3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29250"/>
            <a:ext cx="895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Hitos de validación: revisión funcional al final de semana 2 y revisión completa del sistema al final de semana 3.</a:t>
            </a:r>
          </a:p>
        </p:txBody>
      </p:sp>
    </p:spTree>
    <p:extLst>
      <p:ext uri="{BB962C8B-B14F-4D97-AF65-F5344CB8AC3E}">
        <p14:creationId xmlns:p14="http://schemas.microsoft.com/office/powerpoint/2010/main" val="79480195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3370B7-CEC4-44C2-9C97-1553700E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F7FAF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D5302-1902-4C6F-8D72-02DB7EB9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7"/>
          </a:solidFill>
          <a:ln xmlns:a="http://schemas.openxmlformats.org/drawingml/2006/main" w="9525">
            <a:solidFill>
              <a:srgbClr val="0E749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F3EAD-F21F-4793-B603-97647621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EQUIPO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33058-D634-4596-8697-42B03297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42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222B"/>
                </a:solidFill>
                <a:latin typeface="Aptos Display"/>
                <a:ea typeface="Aptos Display"/>
                <a:cs typeface="Aptos Display"/>
              </a:rPr>
              <a:t>Roles implicados y responsabilidades.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3A4D4-4E2D-47F3-A2F6-A5353FE0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04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El proyecto requiere perfiles funcionales y técnicos, con validación activa del usuario clave del cliente.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4489A-410B-4757-8904-926BC9EF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6"/>
          </a:solidFill>
          <a:ln xmlns:a="http://schemas.openxmlformats.org/drawingml/2006/main" w="0">
            <a:solidFill>
              <a:srgbClr val="D7E2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F9E3BE-A58A-487C-898C-6D19DCFF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Automind Group / Propuesta económica para OGEMI - Impresos Comerciales SA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3AAD2-DA9B-4B5A-9DB3-9BE032B4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38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24C50-24EE-4E77-92DA-F374C6DA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E0C0F-7C06-421B-9D99-C2389B18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4457C3-E3DC-465F-B416-CCE1D46B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Analista funcional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648407-D286-4372-A2BD-8B8AEE05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Confirma reglas contables, alcance, criterios de aceptación y prioridades del negocio.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21418C-C1B0-47AB-A32D-91444D16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765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646802-FD3A-498F-A58C-E067F97E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765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EBC994-602D-4C42-AE6F-40B7E628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28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Full-stack developer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B126E7-2BB6-4E3E-9223-738EC6F5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956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Implementa pantallas, lógica de negocio, flujos de pagos, reportes y experiencia de usuario.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76EAD-2CEE-432D-A08B-3101C18D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22C2FA-32B9-447F-A80F-53310909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80A9D4-6775-4740-983E-0CEC86E7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Supabase / PostgreSQL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C81C54-F7A9-4A41-8458-0EF25879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956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Asegura migraciones, RLS, funciones, triggers, respaldo y consistencia de datos.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E33A1F-7A0E-4CC5-BB32-F7A36DD5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765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72C720-DF8C-4CC0-AB76-10AFDC23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765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438486-081B-46A6-97ED-EC041CCC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28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222B"/>
                </a:solidFill>
                <a:latin typeface="Aptos"/>
                <a:ea typeface="Aptos"/>
                <a:cs typeface="Aptos"/>
              </a:rPr>
              <a:t>QA / DevOps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B3DD31-8F6D-4282-8A6D-C0CEB46C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956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Prueba escenarios críticos, despliega en producción y documenta operación básica.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817550-EA7E-481D-AE92-715D6175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29150"/>
            <a:ext cx="8001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7"/>
          </a:solidFill>
          <a:ln xmlns:a="http://schemas.openxmlformats.org/drawingml/2006/main" w="9525">
            <a:solidFill>
              <a:srgbClr val="18A99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1D7BE5-B95B-4899-9B2F-949855A0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101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Rol del cliente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E98AFB-935B-447C-90E3-CC3ABFA6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72025"/>
            <a:ext cx="552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707A"/>
                </a:solidFill>
                <a:latin typeface="Aptos"/>
                <a:ea typeface="Aptos"/>
                <a:cs typeface="Aptos"/>
              </a:rPr>
              <a:t>Validar el Excel real, revisar reportes, confirmar cierres mensuales y aprobar la operación antes de producción.</a:t>
            </a:r>
          </a:p>
        </p:txBody>
      </p:sp>
    </p:spTree>
    <p:extLst>
      <p:ext uri="{BB962C8B-B14F-4D97-AF65-F5344CB8AC3E}">
        <p14:creationId xmlns:p14="http://schemas.microsoft.com/office/powerpoint/2010/main" val="2863713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916AE6-5754-44D4-9A76-68FE0363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2D"/>
          </a:solidFill>
          <a:ln xmlns:a="http://schemas.openxmlformats.org/drawingml/2006/main" w="0">
            <a:solidFill>
              <a:srgbClr val="0D242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E8964-20C7-46F1-BF6F-FC7CA7CB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2D"/>
          </a:solidFill>
          <a:ln xmlns:a="http://schemas.openxmlformats.org/drawingml/2006/main" w="0">
            <a:solidFill>
              <a:srgbClr val="0D242D"/>
            </a:solidFill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f993a4855741c3"/>
          <a:stretch xmlns:a="http://schemas.openxmlformats.org/drawingml/2006/main"/>
        </p:blipFill>
        <p:spPr>
          <a:xfrm xmlns:a="http://schemas.openxmlformats.org/drawingml/2006/main">
            <a:off x="676275" y="419100"/>
            <a:ext cx="971550" cy="85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EA100-A43A-49A0-ABDB-91B2DCDA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858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DAD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DADC"/>
                </a:solidFill>
                <a:latin typeface="Aptos"/>
                <a:ea typeface="Aptos"/>
                <a:cs typeface="Aptos"/>
              </a:rPr>
              <a:t>CIERRE DE PROPUESTA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BF924-42D0-47BA-AE19-9BCB5C03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048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Una implementación acotada,</a:t>
            </a:r>
          </a:p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 costo cerrado y salida</a:t>
            </a:r>
          </a:p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producción en 4 semanas.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906CC-89E4-4545-9407-40E60E7E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600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DE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9DDE3"/>
                </a:solidFill>
                <a:latin typeface="Aptos"/>
                <a:ea typeface="Aptos"/>
                <a:cs typeface="Aptos"/>
              </a:rPr>
              <a:t>Condición sugerida de pago: 50% al inicio y 50% contra entrega.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F2DD7-A5A6-4FED-B8EC-A7665556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2762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83F04-9FB2-4FEC-9203-93756DA4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A05271-5B66-455E-9AA5-34F9C6F4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81225"/>
            <a:ext cx="2419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A999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8A999"/>
                </a:solidFill>
                <a:latin typeface="Aptos Display"/>
                <a:ea typeface="Aptos Display"/>
                <a:cs typeface="Aptos Display"/>
              </a:rPr>
              <a:t>2.000 EUR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0DEE9-1FD3-4F17-A884-51B2DFBB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71750"/>
            <a:ext cx="2419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Desarrollo cerrado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172857-9ABE-4256-8D3A-EDB401C8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2762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78D77-866E-49BC-9CEE-188BECFC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solidFill>
              <a:srgbClr val="D9902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0EF06B-ECC0-4C22-B6DD-901C9A17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67100"/>
            <a:ext cx="2419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902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D9902F"/>
                </a:solidFill>
                <a:latin typeface="Aptos Display"/>
                <a:ea typeface="Aptos Display"/>
                <a:cs typeface="Aptos Display"/>
              </a:rPr>
              <a:t>0 EUR/mes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A9D74F-5FEB-42DD-B584-9F7CAEA3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57625"/>
            <a:ext cx="2419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Infraestructura inicial posible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D3C4F2-2EE9-43F0-9807-7FCB9C47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2762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4FADE6-7733-4A7B-9B7C-9C97C875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BF7B38-7036-4577-894E-4E77BB7D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52975"/>
            <a:ext cx="2419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E7490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E7490"/>
                </a:solidFill>
                <a:latin typeface="Aptos Display"/>
                <a:ea typeface="Aptos Display"/>
                <a:cs typeface="Aptos Display"/>
              </a:rPr>
              <a:t>4 semanas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031866-2AD3-41D8-8DE0-79AE8376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43500"/>
            <a:ext cx="2419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0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8707A"/>
                </a:solidFill>
                <a:latin typeface="Aptos"/>
                <a:ea typeface="Aptos"/>
                <a:cs typeface="Aptos"/>
              </a:rPr>
              <a:t>Implementación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C0DE7F-5B53-42E4-8FAF-5D8A227F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8DAD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8DADC"/>
                </a:solidFill>
                <a:latin typeface="Aptos"/>
                <a:ea typeface="Aptos"/>
                <a:cs typeface="Aptos"/>
              </a:rPr>
              <a:t>Propuesta emitida por Automind Group. Alcance confirmado: importación manual, 5 usuarios, una empresa, cierre mensual simple y recibo de anticipo.</a:t>
            </a:r>
          </a:p>
        </p:txBody>
      </p:sp>
    </p:spTree>
    <p:extLst>
      <p:ext uri="{BB962C8B-B14F-4D97-AF65-F5344CB8AC3E}">
        <p14:creationId xmlns:p14="http://schemas.microsoft.com/office/powerpoint/2010/main" val="16977734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2026-05-17T13:38:49.7180000Z</dcterms:created>
  <dcterms:modified xsi:type="dcterms:W3CDTF">2026-05-17T13:38:49.7180000Z</dcterms:modified>
</coreProperties>
</file>